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7" r:id="rId18"/>
    <p:sldId id="263" r:id="rId9"/>
    <p:sldId id="268" r:id="rId19"/>
    <p:sldId id="269" r:id="rId20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brightness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frog</c:v>
                  </c:pt>
                  <c:pt idx="1">
                    <c:v>deer</c:v>
                  </c:pt>
                  <c:pt idx="2">
                    <c:v>cat</c:v>
                  </c:pt>
                  <c:pt idx="3">
                    <c:v>automobile</c:v>
                  </c:pt>
                  <c:pt idx="4">
                    <c:v>dog</c:v>
                  </c:pt>
                  <c:pt idx="5">
                    <c:v>horse</c:v>
                  </c:pt>
                  <c:pt idx="6">
                    <c:v>bird</c:v>
                  </c:pt>
                  <c:pt idx="7">
                    <c:v>truck</c:v>
                  </c:pt>
                  <c:pt idx="8">
                    <c:v>ship</c:v>
                  </c:pt>
                  <c:pt idx="9">
                    <c:v>airplane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106.6</c:v>
                </c:pt>
                <c:pt idx="1">
                  <c:v>111.8</c:v>
                </c:pt>
                <c:pt idx="2">
                  <c:v>116.2</c:v>
                </c:pt>
                <c:pt idx="3">
                  <c:v>116.7</c:v>
                </c:pt>
                <c:pt idx="4">
                  <c:v>117.4</c:v>
                </c:pt>
                <c:pt idx="5">
                  <c:v>118.9</c:v>
                </c:pt>
                <c:pt idx="6">
                  <c:v>119.4</c:v>
                </c:pt>
                <c:pt idx="7">
                  <c:v>124.3</c:v>
                </c:pt>
                <c:pt idx="8">
                  <c:v>133.5</c:v>
                </c:pt>
                <c:pt idx="9">
                  <c:v>142.4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CNN</c:v>
                </c:pt>
              </c:strCache>
            </c:strRef>
          </c:tx>
          <c:spPr>
            <a:solidFill>
              <a:srgbClr val="8796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airplane</c:v>
                  </c:pt>
                  <c:pt idx="1">
                    <c:v>automobile</c:v>
                  </c:pt>
                  <c:pt idx="2">
                    <c:v>bird</c:v>
                  </c:pt>
                  <c:pt idx="3">
                    <c:v>cat</c:v>
                  </c:pt>
                  <c:pt idx="4">
                    <c:v>deer</c:v>
                  </c:pt>
                  <c:pt idx="5">
                    <c:v>dog</c:v>
                  </c:pt>
                  <c:pt idx="6">
                    <c:v>frog</c:v>
                  </c:pt>
                  <c:pt idx="7">
                    <c:v>horse</c:v>
                  </c:pt>
                  <c:pt idx="8">
                    <c:v>ship</c:v>
                  </c:pt>
                  <c:pt idx="9">
                    <c:v>truck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0.814</c:v>
                </c:pt>
                <c:pt idx="1">
                  <c:v>0.907</c:v>
                </c:pt>
                <c:pt idx="2">
                  <c:v>0.719</c:v>
                </c:pt>
                <c:pt idx="3">
                  <c:v>0.616</c:v>
                </c:pt>
                <c:pt idx="4">
                  <c:v>0.772</c:v>
                </c:pt>
                <c:pt idx="5">
                  <c:v>0.713</c:v>
                </c:pt>
                <c:pt idx="6">
                  <c:v>0.835</c:v>
                </c:pt>
                <c:pt idx="7">
                  <c:v>0.838</c:v>
                </c:pt>
                <c:pt idx="8">
                  <c:v>0.893</c:v>
                </c:pt>
                <c:pt idx="9">
                  <c:v>0.864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ResNet18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airplane</c:v>
                  </c:pt>
                  <c:pt idx="1">
                    <c:v>automobile</c:v>
                  </c:pt>
                  <c:pt idx="2">
                    <c:v>bird</c:v>
                  </c:pt>
                  <c:pt idx="3">
                    <c:v>cat</c:v>
                  </c:pt>
                  <c:pt idx="4">
                    <c:v>deer</c:v>
                  </c:pt>
                  <c:pt idx="5">
                    <c:v>dog</c:v>
                  </c:pt>
                  <c:pt idx="6">
                    <c:v>frog</c:v>
                  </c:pt>
                  <c:pt idx="7">
                    <c:v>horse</c:v>
                  </c:pt>
                  <c:pt idx="8">
                    <c:v>ship</c:v>
                  </c:pt>
                  <c:pt idx="9">
                    <c:v>truck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0.911</c:v>
                </c:pt>
                <c:pt idx="1">
                  <c:v>0.957</c:v>
                </c:pt>
                <c:pt idx="2">
                  <c:v>0.871</c:v>
                </c:pt>
                <c:pt idx="3">
                  <c:v>0.791</c:v>
                </c:pt>
                <c:pt idx="4">
                  <c:v>0.9</c:v>
                </c:pt>
                <c:pt idx="5">
                  <c:v>0.852</c:v>
                </c:pt>
                <c:pt idx="6">
                  <c:v>0.929</c:v>
                </c:pt>
                <c:pt idx="7">
                  <c:v>0.932</c:v>
                </c:pt>
                <c:pt idx="8">
                  <c:v>0.948</c:v>
                </c:pt>
                <c:pt idx="9">
                  <c:v>0.949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CNN</c:v>
                </c:pt>
              </c:strCache>
            </c:strRef>
          </c:tx>
          <c:spPr>
            <a:solidFill>
              <a:srgbClr val="8796AA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Trust all</c:v>
                  </c:pt>
                  <c:pt idx="1">
                    <c:v>Review all</c:v>
                  </c:pt>
                  <c:pt idx="2">
                    <c:v>Confidence threshold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3037.5</c:v>
                </c:pt>
                <c:pt idx="1">
                  <c:v>1000</c:v>
                </c:pt>
                <c:pt idx="2">
                  <c:v>717.6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ResNet18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Trust all</c:v>
                  </c:pt>
                  <c:pt idx="1">
                    <c:v>Review all</c:v>
                  </c:pt>
                  <c:pt idx="2">
                    <c:v>Confidence threshold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1438.5</c:v>
                </c:pt>
                <c:pt idx="1">
                  <c:v>1000</c:v>
                </c:pt>
                <c:pt idx="2">
                  <c:v>451.7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members introduce their role. Group number is not in the repo; add it here if your lab requires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presenter: Tarun. Note the honest framing: CIFAR-10 is a stand-in benchmark, not real surveillance data (stated in the repo README and report).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presenter: Reyaan. Source: README, docs/data_pipeline.md, data/processed/preprocessing_config.json, class_distribution.csv.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presenter: Prithvi. Source: data_quality_report.csv, anomaly_summary.csv, image_statistics.csv, src/model.py. Brightness chart is computed from image_statistics.csv (50,000 training images).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presenter: Tarun (Data Scientist). Source: src/model.py. Hyperparameter tuning was not performed in the repo: both models were trained once with one fixed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presenter: Jason (Analytics Engineer). Source: data/processed/metrics/*.csv. ROC-AUC is not computed anywhere in the repo, so it is not claimed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presenters: Tusharr (dashboard) and Jason (cost/threshold). Cost units are placeholder assumptions in src/validations/decision.py: review $1, missed detection $10, false alarm $5 (so $15 per wrong prediction). Add a screenshot of your Power BI report here if you want a visual backup; the repo zip has no exported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presenter: Preetham M (ML Engineer). Run `streamlit run app.py` from the repo root before presenting. Take screenshots of the Predict tab as backup: the repo does not contain any. Example values on the right come from data/processed/batch_predictions.csv (ResNet18, test split). Note: prediction_log.csv still holds two ResNet18 rows at confidence about 0.12; do not use those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presenters: Reyaan and Preetham M. The bug story comes from commits d13a572 and e06a59e. The repo does not document other failed experiments; add any your team remembers, since the template asks 'what approaches did not work'.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members present. Roles and responsibilities are taken from the README 'Team Responsibilities' table. Learnings are derived from the measured results, not quoted from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reetham-1064/secure-vision-a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sh_overview.png"/><Relationship Id="rId3" Type="http://schemas.openxmlformats.org/officeDocument/2006/relationships/image" Target="../media/dash_model_perf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sh_cost.png"/><Relationship Id="rId3" Type="http://schemas.openxmlformats.org/officeDocument/2006/relationships/image" Target="../media/dash_monitoring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metrics.jpeg"/><Relationship Id="rId3" Type="http://schemas.openxmlformats.org/officeDocument/2006/relationships/image" Target="../media/app_predict.jpeg"/><Relationship Id="rId4" Type="http://schemas.openxmlformats.org/officeDocument/2006/relationships/image" Target="../media/app_about.jpe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baseline.jpeg"/><Relationship Id="rId3" Type="http://schemas.openxmlformats.org/officeDocument/2006/relationships/image" Target="../media/app_resnet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VISION AI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Image Classification: Baseline CNN vs ResNet18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Examination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493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Reyaan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241BCADA54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9976" y="338328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2856" y="3493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3840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241BCADA66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28432" y="338328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11312" y="3493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3840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773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Preetham 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120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241BCADA72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394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79976" y="466344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62856" y="4773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62856" y="5120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241BCADA16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62856" y="5394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28432" y="466344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11312" y="4773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Tusharr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211312" y="5120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241BCADA29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11312" y="5394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Developer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&amp; 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258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18488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32×32 RGB image to one of 10 object classes, inside a reproducible pipeline that covers data checks, training, evaluation and inference.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81528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is only useful if its data is clean, its results are comparable, and its speed and error cost are known. CIFAR-10 is a controlled stand-in; the repo states it is not real surveillance imagery.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519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OBJECTIVE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544568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baseline CNN with a ResNet18 on accuracy, macro F1 and latency, select the better model, and serve it through a Streamlit app.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315200" y="1325880"/>
            <a:ext cx="4142232" cy="777240"/>
          </a:xfrm>
          <a:prstGeom prst="roundRect">
            <a:avLst>
              <a:gd name="adj" fmla="val 941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0" y="1399032"/>
            <a:ext cx="3776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 × 3 RGB image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12140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7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5200" y="2423160"/>
            <a:ext cx="4142232" cy="777240"/>
          </a:xfrm>
          <a:prstGeom prst="roundRect">
            <a:avLst>
              <a:gd name="adj" fmla="val 941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0" y="2496312"/>
            <a:ext cx="3776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 |  ResNet18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321868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7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0" y="3520440"/>
            <a:ext cx="4142232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0" y="3593592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(target: class label 0–9)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class, confidence, latency (ms)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470916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156448" y="470916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997696" y="470916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838944" y="470916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680192" y="470916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507492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156448" y="507492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997696" y="507492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838944" y="507492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80192" y="5074920"/>
            <a:ext cx="795528" cy="292608"/>
          </a:xfrm>
          <a:prstGeom prst="roundRect">
            <a:avLst>
              <a:gd name="adj" fmla="val 25000"/>
            </a:avLst>
          </a:prstGeom>
          <a:solidFill>
            <a:srgbClr val="F1F5F8"/>
          </a:solidFill>
          <a:ln w="6350">
            <a:solidFill>
              <a:srgbClr val="8796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Dataset &amp; Data Understanding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2551176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25880"/>
            <a:ext cx="227685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812798"/>
            <a:ext cx="2276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 CIFAR-10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56432" y="1234440"/>
            <a:ext cx="2551176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93592" y="1325880"/>
            <a:ext cx="227685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93592" y="1812798"/>
            <a:ext cx="2276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per image (RGB)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1344" y="1234440"/>
            <a:ext cx="2551176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18504" y="1325880"/>
            <a:ext cx="227685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18504" y="1812798"/>
            <a:ext cx="2276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perfectly balanced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06256" y="1234440"/>
            <a:ext cx="2551176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43416" y="1325880"/>
            <a:ext cx="227685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/ 1,000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043416" y="1812798"/>
            <a:ext cx="2276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class (train / test)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2514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IS SPLIT (STRATIFIED, RANDOM STATE 42)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816352"/>
            <a:ext cx="8044434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45,000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775954" y="2816352"/>
            <a:ext cx="893826" cy="457200"/>
          </a:xfrm>
          <a:prstGeom prst="rect">
            <a:avLst/>
          </a:prstGeom>
          <a:solidFill>
            <a:srgbClr val="8796A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5,000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69780" y="2816352"/>
            <a:ext cx="1787652" cy="457200"/>
          </a:xfrm>
          <a:prstGeom prst="rect">
            <a:avLst/>
          </a:prstGeom>
          <a:solidFill>
            <a:srgbClr val="14213D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10,000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5661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3858768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(Krizhevsky &amp; Hinton); Python archive of ~162.6 MB, fetched by data/raw/download_data.py from the project Google Drive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class label 0–9 (airplane … truck)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3,072 raw pixel values per image; derived brightness, contrast and R/G/B means for EDA (50,000 × 7 table)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32320" y="3566160"/>
            <a:ext cx="4325112" cy="2011680"/>
          </a:xfrm>
          <a:prstGeom prst="roundRect">
            <a:avLst>
              <a:gd name="adj" fmla="val 363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0" y="3675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397764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Low-resolution, generic objects; not real surveillance frames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labels are not security-event categories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scores should not be read as real-world surveillance performance (repo README)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Preparation &amp; EDA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VALIDATION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5361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PASS: 0 missing values, 0 invalid labels, 0 duplicate images (MD5 hash), 0 train/test overlaps, pixel range 0–255.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042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560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÷ 255 → [0, 1] float32, then CIFAR-10 per-channel mean/std standardization.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32841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(TRAINING ONLY)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8444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crop with padding 4 and random horizontal flip.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35254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60857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brightness, contrast and R/G/B channel means for EDA.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1: mean brightness by class (0–255)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035040" y="1554480"/>
          <a:ext cx="5440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1"/>
          <p:cNvSpPr/>
          <p:nvPr/>
        </p:nvSpPr>
        <p:spPr>
          <a:xfrm>
            <a:off x="6126480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263640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2: BALANCE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4663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has exactly 5,000 training and 1,000 test images (10% each): the classes are already balanced.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851392" y="42976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988552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3: OUTLIERS (IQR)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988552" y="4663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820 (1.64%), contrast 200 (0.4%), red 771, green 839, blue 352 of 50,000 images flagged; all 50,000 are still used.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Machine Learning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5276088" cy="2194560"/>
          </a:xfrm>
          <a:prstGeom prst="roundRect">
            <a:avLst>
              <a:gd name="adj" fmla="val 3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91640"/>
            <a:ext cx="4910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32 → Conv 64 → Conv 128 (3×3, ReLU, max-pool after each) → Flatten → Dense 256 → 10 logits.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060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simple reference point to judge whether depth is worth it. Weights file: 2.5 MB.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81344" y="1280160"/>
            <a:ext cx="5276088" cy="2194560"/>
          </a:xfrm>
          <a:prstGeom prst="roundRect">
            <a:avLst>
              <a:gd name="adj" fmla="val 3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64224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(CIFAR-10 VARIANT)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64224" y="1691640"/>
            <a:ext cx="4910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stem (64 filters) → 4 stages of 2 residual BasicBlocks (64, 128, 256, 512) → global average pool → 10 logits.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64224" y="26060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deeper residual network, intended to learn richer visual features than the baseline (project report). Weights file: 44.9 MB.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749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 (IDENTICAL FOR BOTH MODELS)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40690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572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47518" y="40690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38958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638958" y="4572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63517" y="40690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54957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454957" y="4572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0.001, cosine decay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79515" y="40690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70955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270955" y="4572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sparse, from logits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995514" y="40690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86954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 / 5k / 10k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086954" y="4572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811512" y="40690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902952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902952" y="4572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52578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performed; one fixed configuration per model.   </a:t>
            </a:r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selected model: </a:t>
            </a:r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Model Evaluation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(10,000 images)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48463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31520" y="3749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(5,000): ResNet18 0.9092, baseline 0.7926 accuracy, close to the test scores.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on the test set (axis starts at 0.5)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760720" y="1508760"/>
          <a:ext cx="57150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5"/>
          <p:cNvSpPr/>
          <p:nvPr/>
        </p:nvSpPr>
        <p:spPr>
          <a:xfrm>
            <a:off x="731520" y="4526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96112" y="461772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WELL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896112" y="491032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F1: automobile 0.957, truck 0.949, ship 0.948.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366260" y="4526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530852" y="461772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POORLY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530852" y="491032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0.791, dog 0.852, bird 0.871. The confusion matrix shows 106 cats predicted as dog and 85 dogs as cat.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01000" y="4526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65592" y="461772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 F1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165592" y="4910328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balanced (1,000 each), so accuracy and macro F1 agree; macro F1 also exposes weak classes like cat.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Results &amp; Dashboard / Visualization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325880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90.41%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963674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test accuracy vs 79.75% baseline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56432" y="123444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93592" y="1325880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959 vs 2,025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93592" y="1963674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predictions out of 10,000 (ResNet18 vs baseline)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81344" y="123444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18504" y="1325880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33.78 ms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18504" y="1963674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latency vs 6.24 ms baseline (5.4× slower)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06256" y="1234440"/>
            <a:ext cx="2551176" cy="132588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43416" y="1325880"/>
            <a:ext cx="22768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043416" y="1963674"/>
            <a:ext cx="2276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auto-accepted at threshold 0.98, with 98.4% accuracy on those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 per 1,000 images (illustrative units)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0080" y="3063240"/>
          <a:ext cx="5943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6949440" y="2788920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MEAN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949440" y="3063240"/>
            <a:ext cx="45079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is the better classifier: +10.66 accuracy points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low-confidence images to review cuts ResNet18 cost 68.6% vs trusting every prediction, and 54.8% vs reviewing everything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serves 160.3 images/s vs 29.6 for ResNet18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949440" y="4937760"/>
            <a:ext cx="4507992" cy="1188720"/>
          </a:xfrm>
          <a:prstGeom prst="roundRect">
            <a:avLst>
              <a:gd name="adj" fmla="val 615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086600" y="5010912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(DASHBOARD/ FOLDER)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7086600" y="5285232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pages: model overview and latency, per-class F1, cost and threshold, data quality and anomalies.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Live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258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544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from the repo root. Tabs: Predict, Project Metrics, About Project.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585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212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4871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Baseline CNN or ResNet18 and upload a 32×32-compatible image.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19125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145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41985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shape is 32×32×3, divide by 255, standardize with CIFAR-10 mean/std.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1239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078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35254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pass, softmax over 10 classes, take the top class.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5010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52852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class, confidence and latency; latency is logged to prediction_log.csv.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1280160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 RECORDS (RESNET18, TEST SET)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49440" y="1600200"/>
            <a:ext cx="4507992" cy="132588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0" y="1709928"/>
            <a:ext cx="4142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5604: correct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automobile   Predicted: automobile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1.000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949440" y="3063240"/>
            <a:ext cx="4507992" cy="132588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32320" y="3172968"/>
            <a:ext cx="4142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2405: wrong but confident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cat   Predicted: frog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1.000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4572000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OUTPUT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4846320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the softmax maximum. ResNet18 averages 0.964 when correct and 0.750 when wrong, so a high score is helpful but not a guarantee.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Challenges &amp; Improvements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AND HOW WE FIXED 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6002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gave random-looking predictions in the app. 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subclassed Keras model whose variables were not built before loading weights. Fix: run a dummy forward pass first. prediction_log.csv still has ResNet18 rows at confidence 0.12 (chance is 0.10).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too large for GitHub. 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~162.6 MB archive lives outside the repo; download_data.py fetches it.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path errors. 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must run from the repo root and expects the data in a sibling folder (README, Common Issues).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617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speed. 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gains 10.66 points but is 5.4× slower.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86600" y="1280160"/>
            <a:ext cx="4370832" cy="2331720"/>
          </a:xfrm>
          <a:prstGeom prst="roundRect">
            <a:avLst>
              <a:gd name="adj" fmla="val 313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6948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5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1664208"/>
            <a:ext cx="40050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is not surveillance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F1 is only 0.791; cats and dogs get confused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errors are made with very high confidence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tuning; one run per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figures are placeholder assumptions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86600" y="3749040"/>
            <a:ext cx="4370832" cy="2331720"/>
          </a:xfrm>
          <a:prstGeom prst="roundRect">
            <a:avLst>
              <a:gd name="adj" fmla="val 313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6948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 OR DATA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4133088"/>
            <a:ext cx="40050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 domain-specific surveillance dataset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confidence and test robustness (blur, lighting, compression, occlusion)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hyperparameters; add experiment tracking and CI tests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data and confidence drift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Team Contribution, Learning &amp; 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6675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Reyaan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241BCADA54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Ingestion, validation, preprocessing, quality and leakage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Prithvi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241BCADA66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EDA, distributions, image statistics,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241BCADA03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Scientist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and ResNet18 models, training strategy, ML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Preetham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241BCADA72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integration, model artifacts, inference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241BCADA16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Engineer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Metrics, cost matrix, threshold and Type I/II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Tusharr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241BCADA29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visualizations, KPI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680960" y="1234440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680960" y="1490472"/>
            <a:ext cx="3776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not enough: ResNet18 adds 10.7 points but is 5.4× slower. Data checks come before modeling.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2651760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2907792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selected: 0.9041 accuracy and 0.9039 macro F1 vs 0.7975 and 0.7970 for the baseline.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3931920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NEXT STEPS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680960" y="4187952"/>
            <a:ext cx="3776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academic, end-to-end ML lifecycle demo, not a production system. Next: surveillance-domain data, calibration, robustness tests.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5532120"/>
            <a:ext cx="10725912" cy="548640"/>
          </a:xfrm>
          <a:prstGeom prst="roundRect">
            <a:avLst>
              <a:gd name="adj" fmla="val 13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4400" y="55321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500" u="sng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https://github.com/Preetham-1064/secure-vision-ai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Power BI Dashboard: Overview &amp; Model Performance</a:t>
            </a:r>
          </a:p>
        </p:txBody>
      </p:sp>
      <p:sp>
        <p:nvSpPr>
          <p:cNvPr id="3" name="Footer 3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</a:p>
        </p:txBody>
      </p:sp>
      <p:sp>
        <p:nvSpPr>
          <p:cNvPr id="4" name="Label 4"/>
          <p:cNvSpPr txBox="1"/>
          <p:nvPr/>
        </p:nvSpPr>
        <p:spPr>
          <a:xfrm>
            <a:off x="731520" y="11887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 · OVERVIEW</a:t>
            </a:r>
          </a:p>
        </p:txBody>
      </p:sp>
      <p:pic>
        <p:nvPicPr>
          <p:cNvPr id="5" name="Dashboard Page 1 · Overview" descr="Power BI overview page with model performance summary and latency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25796" cy="2939052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  <p:sp>
        <p:nvSpPr>
          <p:cNvPr id="6" name="Card 6"/>
          <p:cNvSpPr/>
          <p:nvPr/>
        </p:nvSpPr>
        <p:spPr>
          <a:xfrm>
            <a:off x="731520" y="4689953"/>
            <a:ext cx="5225796" cy="105156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7" name="Caption 7"/>
          <p:cNvSpPr txBox="1"/>
          <p:nvPr/>
        </p:nvSpPr>
        <p:spPr>
          <a:xfrm>
            <a:off x="914400" y="4827113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reaches 0.90 test accuracy against 0.80 for the Baseline CNN, but averages 33.78 ms per image vs 6.24 ms (29.6 vs 160.3 images/s).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6231636" y="11887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 · MODEL PERFORMANCE</a:t>
            </a:r>
          </a:p>
        </p:txBody>
      </p:sp>
      <p:pic>
        <p:nvPicPr>
          <p:cNvPr id="9" name="Dashboard Page 2 · Model Performance" descr="Power BI model performance page with per-class metrics table and F1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1508760"/>
            <a:ext cx="5225796" cy="2952593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  <p:sp>
        <p:nvSpPr>
          <p:cNvPr id="10" name="Card 10"/>
          <p:cNvSpPr/>
          <p:nvPr/>
        </p:nvSpPr>
        <p:spPr>
          <a:xfrm>
            <a:off x="6231636" y="4689953"/>
            <a:ext cx="5225796" cy="105156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Caption 11"/>
          <p:cNvSpPr txBox="1"/>
          <p:nvPr/>
        </p:nvSpPr>
        <p:spPr>
          <a:xfrm>
            <a:off x="6414516" y="4827113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 and F1 on the test set. Cat is the weakest class for both models (F1 0.62 baseline, 0.79 ResNet18); automobile is the strongest.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Power BI Dashboard: Cost &amp; Data Quality</a:t>
            </a:r>
          </a:p>
        </p:txBody>
      </p:sp>
      <p:sp>
        <p:nvSpPr>
          <p:cNvPr id="3" name="Footer 3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</a:p>
        </p:txBody>
      </p:sp>
      <p:sp>
        <p:nvSpPr>
          <p:cNvPr id="4" name="Label 4"/>
          <p:cNvSpPr txBox="1"/>
          <p:nvPr/>
        </p:nvSpPr>
        <p:spPr>
          <a:xfrm>
            <a:off x="731520" y="11887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 · COST &amp; DECISION ANALYTICS</a:t>
            </a:r>
          </a:p>
        </p:txBody>
      </p:sp>
      <p:pic>
        <p:nvPicPr>
          <p:cNvPr id="5" name="Dashboard Page 3 · Cost &amp; Decision Analytics" descr="Power BI cost analysis page with optimal threshold and savings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25796" cy="2958344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  <p:sp>
        <p:nvSpPr>
          <p:cNvPr id="6" name="Card 6"/>
          <p:cNvSpPr/>
          <p:nvPr/>
        </p:nvSpPr>
        <p:spPr>
          <a:xfrm>
            <a:off x="731520" y="4695704"/>
            <a:ext cx="5225796" cy="105156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7" name="Caption 7"/>
          <p:cNvSpPr txBox="1"/>
          <p:nvPr/>
        </p:nvSpPr>
        <p:spPr>
          <a:xfrm>
            <a:off x="914400" y="4832864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cost is 0.10 per sample for ResNet18 vs 0.20 for the baseline. At threshold 0.98, ResNet18 auto-accepts 73% of images and saves 68.6% vs trusting every prediction.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6231636" y="11887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 · MONITORING &amp; DATA QUALITY</a:t>
            </a:r>
          </a:p>
        </p:txBody>
      </p:sp>
      <p:pic>
        <p:nvPicPr>
          <p:cNvPr id="9" name="Dashboard Page 4 · Monitoring &amp; Data Quality" descr="Power BI monitoring page with latency benchmark, anomaly summary and data quality re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1508760"/>
            <a:ext cx="5225796" cy="2937904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  <p:sp>
        <p:nvSpPr>
          <p:cNvPr id="10" name="Card 10"/>
          <p:cNvSpPr/>
          <p:nvPr/>
        </p:nvSpPr>
        <p:spPr>
          <a:xfrm>
            <a:off x="6231636" y="4695704"/>
            <a:ext cx="5225796" cy="105156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Caption 11"/>
          <p:cNvSpPr txBox="1"/>
          <p:nvPr/>
        </p:nvSpPr>
        <p:spPr>
          <a:xfrm>
            <a:off x="6414516" y="4832864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benchmark over 500 samples (ResNet18 p95 35.33 ms vs 6.90 ms). IQR checks flag 0.4–1.7% of images per feature; classes stay balanced at 1,000 per class.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Live Demo: Streamlit App Tabs</a:t>
            </a:r>
          </a:p>
        </p:txBody>
      </p:sp>
      <p:sp>
        <p:nvSpPr>
          <p:cNvPr id="3" name="Footer 3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</a:p>
        </p:txBody>
      </p:sp>
      <p:sp>
        <p:nvSpPr>
          <p:cNvPr id="4" name="Label 4"/>
          <p:cNvSpPr txBox="1"/>
          <p:nvPr/>
        </p:nvSpPr>
        <p:spPr>
          <a:xfrm>
            <a:off x="731520" y="1188720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 TAB · MODEL EVALUATION &amp; ANALYTICS</a:t>
            </a:r>
          </a:p>
        </p:txBody>
      </p:sp>
      <p:pic>
        <p:nvPicPr>
          <p:cNvPr id="5" name="Project Metrics tab" descr="Streamlit Project Metrics tab with model evaluation comparison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428232" cy="3691211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  <p:sp>
        <p:nvSpPr>
          <p:cNvPr id="6" name="Caption 6"/>
          <p:cNvSpPr txBox="1"/>
          <p:nvPr/>
        </p:nvSpPr>
        <p:spPr>
          <a:xfrm>
            <a:off x="731520" y="5327987"/>
            <a:ext cx="642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 for both models: comparison table, per-class performance, confusion matrices, latency, cost and decision-threshold analysis.</a:t>
            </a:r>
          </a:p>
        </p:txBody>
      </p:sp>
      <p:sp>
        <p:nvSpPr>
          <p:cNvPr id="7" name="Label 7"/>
          <p:cNvSpPr txBox="1"/>
          <p:nvPr/>
        </p:nvSpPr>
        <p:spPr>
          <a:xfrm>
            <a:off x="7434072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TAB · UPLOAD &amp; DETECT</a:t>
            </a:r>
          </a:p>
        </p:txBody>
      </p:sp>
      <p:pic>
        <p:nvPicPr>
          <p:cNvPr id="8" name="Predict tab" descr="Streamlit Predict tab with model selector, image upload and detection readout"/>
          <p:cNvPicPr>
            <a:picLocks noChangeAspect="1"/>
          </p:cNvPicPr>
          <p:nvPr/>
        </p:nvPicPr>
        <p:blipFill>
          <a:blip r:embed="rId3"/>
          <a:srcRect b="40000"/>
          <a:stretch>
            <a:fillRect/>
          </a:stretch>
        </p:blipFill>
        <p:spPr>
          <a:xfrm>
            <a:off x="7434072" y="1508760"/>
            <a:ext cx="4023360" cy="1389945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  <p:sp>
        <p:nvSpPr>
          <p:cNvPr id="9" name="Label 9"/>
          <p:cNvSpPr txBox="1"/>
          <p:nvPr/>
        </p:nvSpPr>
        <p:spPr>
          <a:xfrm>
            <a:off x="7434072" y="3099873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PROJECT TAB</a:t>
            </a:r>
          </a:p>
        </p:txBody>
      </p:sp>
      <p:pic>
        <p:nvPicPr>
          <p:cNvPr id="10" name="About Project tab" descr="Streamlit About Project tab with overview, ML pipeline and CIFAR-10 class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3401625"/>
            <a:ext cx="4023360" cy="2304002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Live Demo: Model Evaluation in the App</a:t>
            </a:r>
          </a:p>
        </p:txBody>
      </p:sp>
      <p:sp>
        <p:nvSpPr>
          <p:cNvPr id="3" name="Footer 3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Lab – Final Exam Project</a:t>
            </a:r>
          </a:p>
        </p:txBody>
      </p:sp>
      <p:sp>
        <p:nvSpPr>
          <p:cNvPr id="4" name="Label 4"/>
          <p:cNvSpPr txBox="1"/>
          <p:nvPr/>
        </p:nvSpPr>
        <p:spPr>
          <a:xfrm>
            <a:off x="731520" y="11887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· TEST EVALUATION</a:t>
            </a:r>
          </a:p>
        </p:txBody>
      </p:sp>
      <p:pic>
        <p:nvPicPr>
          <p:cNvPr id="5" name="Baseline Cnn · Test Evaluation" descr="Streamlit Baseline CNN test evaluation with metric cards and per-class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25796" cy="3008915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  <p:sp>
        <p:nvSpPr>
          <p:cNvPr id="6" name="Card 6"/>
          <p:cNvSpPr/>
          <p:nvPr/>
        </p:nvSpPr>
        <p:spPr>
          <a:xfrm>
            <a:off x="731520" y="4746275"/>
            <a:ext cx="5225796" cy="105156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7" name="Caption 7"/>
          <p:cNvSpPr txBox="1"/>
          <p:nvPr/>
        </p:nvSpPr>
        <p:spPr>
          <a:xfrm>
            <a:off x="914400" y="4883435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0.7975 and macro F1 0.7970, with per-class performance and a confusion matrix below. Cat is the weakest class (F1 0.6161).</a:t>
            </a:r>
          </a:p>
        </p:txBody>
      </p:sp>
      <p:sp>
        <p:nvSpPr>
          <p:cNvPr id="8" name="Label 8"/>
          <p:cNvSpPr txBox="1"/>
          <p:nvPr/>
        </p:nvSpPr>
        <p:spPr>
          <a:xfrm>
            <a:off x="6231636" y="11887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· TEST EVALUATION</a:t>
            </a:r>
          </a:p>
        </p:txBody>
      </p:sp>
      <p:pic>
        <p:nvPicPr>
          <p:cNvPr id="9" name="Resnet18 · Test Evaluation" descr="Streamlit ResNet18 test evaluation with metric cards and per-class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1508760"/>
            <a:ext cx="5225796" cy="2996667"/>
          </a:xfrm>
          <a:prstGeom prst="rect">
            <a:avLst/>
          </a:prstGeom>
          <a:ln w="9525">
            <a:solidFill>
              <a:srgbClr val="CBD5E0"/>
            </a:solidFill>
          </a:ln>
          <a:effectLst>
            <a:outerShdw blurRad="76200" dist="25400" dir="5400000" algn="t" rotWithShape="0">
              <a:srgbClr val="14213D">
                <a:alpha val="22000"/>
              </a:srgbClr>
            </a:outerShdw>
          </a:effectLst>
        </p:spPr>
      </p:pic>
      <p:sp>
        <p:nvSpPr>
          <p:cNvPr id="10" name="Card 10"/>
          <p:cNvSpPr/>
          <p:nvPr/>
        </p:nvSpPr>
        <p:spPr>
          <a:xfrm>
            <a:off x="6231636" y="4746275"/>
            <a:ext cx="5225796" cy="1051560"/>
          </a:xfrm>
          <a:prstGeom prst="roundRect">
            <a:avLst>
              <a:gd name="adj" fmla="val 55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Caption 11"/>
          <p:cNvSpPr txBox="1"/>
          <p:nvPr/>
        </p:nvSpPr>
        <p:spPr>
          <a:xfrm>
            <a:off x="6414516" y="4883435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0.9041 and macro F1 0.9039. Every class improves over the baseline; cat rises to an F1 of 0.791.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Vision AI - ML Lab Final Exam</dc:title>
  <dc:subject>PptxGenJS Presentation</dc:subject>
  <dc:creator>Team Secure Vision AI</dc:creator>
  <cp:lastModifiedBy>Team Secure Vision AI</cp:lastModifiedBy>
  <cp:revision>1</cp:revision>
  <dcterms:created xsi:type="dcterms:W3CDTF">2026-09-30T10:32:05Z</dcterms:created>
  <dcterms:modified xsi:type="dcterms:W3CDTF">2026-09-30T10:32:05Z</dcterms:modified>
</cp:coreProperties>
</file>